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bubble3D val="0"/>
            <c:spPr>
              <a:solidFill>
                <a:srgbClr val="415A77"/>
              </a:solidFill>
              <a:effectLst/>
            </c:spPr>
          </c:dPt>
          <c:dPt>
            <c:idx val="2"/>
            <c:bubble3D val="0"/>
            <c:spPr>
              <a:solidFill>
                <a:srgbClr val="778DA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Moderate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74</c:v>
                </c:pt>
                <c:pt idx="1">
                  <c:v>34</c:v>
                </c:pt>
                <c:pt idx="2">
                  <c:v>11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83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Alcohol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78DA9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Alcohol</c:v>
                </c:pt>
                <c:pt idx="1">
                  <c:v>Alcohol Involved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103</c:v>
                </c:pt>
                <c:pt idx="1">
                  <c:v>16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83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415A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8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Youth</c:v>
                  </c:pt>
                  <c:pt idx="1">
                    <c:v>Adult</c:v>
                  </c:pt>
                  <c:pt idx="2">
                    <c:v>Older Drivers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51</c:v>
                </c:pt>
                <c:pt idx="2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8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Vehicle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63B"/>
              </a:solidFill>
              <a:effectLst/>
            </c:spPr>
          </c:dPt>
          <c:dPt>
            <c:idx val="1"/>
            <c:bubble3D val="0"/>
            <c:spPr>
              <a:solidFill>
                <a:srgbClr val="415A77"/>
              </a:solidFill>
              <a:effectLst/>
            </c:spPr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bubble3D val="0"/>
            <c:spPr>
              <a:solidFill>
                <a:srgbClr val="778DA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Car</c:v>
                </c:pt>
                <c:pt idx="1">
                  <c:v>Truck</c:v>
                </c:pt>
                <c:pt idx="2">
                  <c:v>Motorcycle</c:v>
                </c:pt>
                <c:pt idx="3">
                  <c:v>Bus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</c:v>
                </c:pt>
                <c:pt idx="1">
                  <c:v>22</c:v>
                </c:pt>
                <c:pt idx="2">
                  <c:v>15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83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78DA9"/>
              </a:solidFill>
              <a:effectLst/>
            </c:spPr>
          </c:dPt>
          <c:dPt>
            <c:idx val="1"/>
            <c:bubble3D val="0"/>
            <c:spPr>
              <a:solidFill>
                <a:srgbClr val="415A77"/>
              </a:solidFill>
              <a:effectLst/>
            </c:spPr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Daylight</c:v>
                </c:pt>
                <c:pt idx="1">
                  <c:v>Artificial Light</c:v>
                </c:pt>
                <c:pt idx="2">
                  <c:v>No Light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63</c:v>
                </c:pt>
                <c:pt idx="1">
                  <c:v>46</c:v>
                </c:pt>
                <c:pt idx="2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83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778D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8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Clear</c:v>
                  </c:pt>
                  <c:pt idx="1">
                    <c:v>Rainy</c:v>
                  </c:pt>
                  <c:pt idx="2">
                    <c:v>Foggy</c:v>
                  </c:pt>
                  <c:pt idx="3">
                    <c:v>Snowy</c:v>
                  </c:pt>
                  <c:pt idx="4">
                    <c:v>Stormy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24</c:v>
                </c:pt>
                <c:pt idx="2">
                  <c:v>17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8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415A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8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(0)</c:v>
                  </c:pt>
                  <c:pt idx="1">
                    <c:v>Medium (1)</c:v>
                  </c:pt>
                  <c:pt idx="2">
                    <c:v>High (2)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45</c:v>
                </c:pt>
                <c:pt idx="2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8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accidents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60</c:v>
                  </c:pt>
                  <c:pt idx="1">
                    <c:v>50</c:v>
                  </c:pt>
                  <c:pt idx="2">
                    <c:v>100</c:v>
                  </c:pt>
                  <c:pt idx="3">
                    <c:v>80</c:v>
                  </c:pt>
                  <c:pt idx="4">
                    <c:v>30</c:v>
                  </c:pt>
                  <c:pt idx="5">
                    <c:v>120</c:v>
                  </c:pt>
                  <c:pt idx="6">
                    <c:v>178</c:v>
                  </c:pt>
                  <c:pt idx="7">
                    <c:v>190</c:v>
                  </c:pt>
                  <c:pt idx="8">
                    <c:v>192</c:v>
                  </c:pt>
                  <c:pt idx="9">
                    <c:v>193</c:v>
                  </c:pt>
                  <c:pt idx="10">
                    <c:v>195</c:v>
                  </c:pt>
                  <c:pt idx="11">
                    <c:v>213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33</c:v>
                </c:pt>
                <c:pt idx="2">
                  <c:v>26</c:v>
                </c:pt>
                <c:pt idx="3">
                  <c:v>18</c:v>
                </c:pt>
                <c:pt idx="4">
                  <c:v>17</c:v>
                </c:pt>
                <c:pt idx="5">
                  <c:v>17</c:v>
                </c:pt>
                <c:pt idx="6">
                  <c:v>13</c:v>
                </c:pt>
                <c:pt idx="7">
                  <c:v>9</c:v>
                </c:pt>
                <c:pt idx="8">
                  <c:v>5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Recorded speed value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no. of accidents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the topic: a data-driven look at car accidents using a real analyzed dataset of 119 incidents. Set expectations that every stat shown traces back to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road safety as a global and persistent challenge. Transition into the specific dataset this presentation draws from, and preview that 62% of accidents here were high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methodology briefly: the analysis covers driver, vehicle, road, and environmental variables tracked for each of the 119 accidents. Reassure the audience that no external or invented statistics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headline numbers: 119 total accidents, average speed 70.52, average driver age 43.85, and 13.45% alcohol involvement. These frame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high-severity accidents (62.18%) far outnumber moderate (28.57%) and low (9.24%) severity ones. Pose the question: what conditions might be driving such severe outcomes?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four-category framework used to organize the rest of the analysis: human, vehicle, road/environment, and weather factors, each grounded in a specific tracked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driver-related patterns: only 13.45% of accidents involved alcohol, but adult and older drivers accounted for far more incidents than younger drivers. Invite discussion on why (exposure/driving frequency vs risk-taking).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vehicle type distribution: cars represent 65.55% of accidents, which likely mirrors their share of overall road traffic rather than indicating cars are riskier per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road lighting: nearly half of accidents (47%) happened under artificial or no lighting. Also mention the road type ranking: city roads highest, then highways, rural roads, and mountain roads.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weather and traffic density: most accidents happened in clear weather simply because that's when most driving occurs; traffic density levels show fairly even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speed data: average 70.52, but individual recorded speeds ranged very widely. Note that speed is a recurring theme across the more severe accidents.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most critical findings so far: severity skew, lighting gap, high average speed, and the smaller but meaningful alcohol involvement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actionable recommendations one at a time: lighting upgrades, speed enforcement, and targeted alcohol/driver-age campaigns. Emphasize these are directly derived from the data just shown, not generic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that the data tells a clear, actionable story, and thank the audience.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D152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415A7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0D1521"/>
          </a:solidFill>
          <a:ln/>
        </p:spPr>
      </p:sp>
      <p:pic>
        <p:nvPicPr>
          <p:cNvPr id="5" name="Image 0" descr="icons/car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818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ACCIDENTS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Accidents: Causes, Analysis,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Prevention Strategies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119 recorded traffic accidents — examining human, vehicle,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environmental factors to guide prevention strategy.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3108960" cy="0"/>
          </a:xfrm>
          <a:prstGeom prst="line">
            <a:avLst/>
          </a:prstGeom>
          <a:noFill/>
          <a:ln w="12700">
            <a:solidFill>
              <a:srgbClr val="415A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[Your Name]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080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Safety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traffic accidents remain one of the most persistent public safety challenges worldwide, resulting in injury, loss of life, and significant economic cost. Understanding why crashes happen — and under what conditions — is the first step toward preventing them.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analyzes a structured dataset of 119 recorded traffic accidents, capturing driver, vehicle, road, and environmental variables for each incident. The goal: identify which factors are most strongly associated with accidents — and translate those findings into concrete prevention recommendations.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86600" y="1737360"/>
            <a:ext cx="4526280" cy="4160520"/>
          </a:xfrm>
          <a:prstGeom prst="roundRect">
            <a:avLst>
              <a:gd name="adj" fmla="val 1319"/>
            </a:avLst>
          </a:prstGeom>
          <a:solidFill>
            <a:srgbClr val="1B263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52360" y="2103120"/>
            <a:ext cx="640080" cy="64008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8" name="Image 0" descr="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781" y="22695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288036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7086600" y="37947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ACCIDENTS ANALYZED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4343400"/>
            <a:ext cx="3063240" cy="0"/>
          </a:xfrm>
          <a:prstGeom prst="line">
            <a:avLst/>
          </a:prstGeom>
          <a:noFill/>
          <a:ln w="12700">
            <a:solidFill>
              <a:srgbClr val="415A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360" y="457200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the accidents in this dataset were classified as High severity — underscoring the urgency of prevention.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in this presentation are drawn directly from a structured accident-record dataset (119 incidents), summarized through an analytical dashboard. No external sources or assumed figures are used — every statistic shown traces back to this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3108960"/>
            <a:ext cx="731520" cy="73152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7" name="Image 0" descr="icons/us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32991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Factors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480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alcohol involvement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7889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3108960"/>
            <a:ext cx="731520" cy="73152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2" name="Image 1" descr="icons/carsimp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35" y="32991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Factors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4480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(car, truck, motorcycle, bus)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7889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55180" y="3108960"/>
            <a:ext cx="731520" cy="73152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7" name="Image 2" descr="icons/roa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375" y="3299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Factors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4480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type, surface condition, lighting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7889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9820" y="3108960"/>
            <a:ext cx="731520" cy="73152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22" name="Image 3" descr="icons/clou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299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35440" y="4480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time of day, traffic density, speed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accident-record dashboard analysis, n = 119 incidents.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STATISTICS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Statistics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6" name="Image 0" descr="icons/c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2119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3474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057400"/>
            <a:ext cx="594360" cy="59436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1" name="Image 1" descr="icons/tach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41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70.52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520440" y="3474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Time of Accident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6" name="Image 2" descr="icons/us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054" y="22119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43.85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355080" y="3474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Driver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(Years)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52560" y="178308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DECE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2057400"/>
            <a:ext cx="594360" cy="594360"/>
          </a:xfrm>
          <a:prstGeom prst="ellipse">
            <a:avLst/>
          </a:prstGeom>
          <a:solidFill>
            <a:srgbClr val="FBD3D8"/>
          </a:solidFill>
          <a:ln/>
        </p:spPr>
      </p:sp>
      <p:pic>
        <p:nvPicPr>
          <p:cNvPr id="21" name="Image 3" descr="icons/glas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694" y="22119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13.45%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189720" y="3474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Involving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Alcohol Use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describe the full analyzed sample and frame the deeper breakdowns that follow.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Accidents Were High Severity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993392"/>
            <a:ext cx="201168" cy="2011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782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 (62.18%)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75120" y="2496312"/>
            <a:ext cx="201168" cy="201168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9" name="Text 6"/>
          <p:cNvSpPr/>
          <p:nvPr/>
        </p:nvSpPr>
        <p:spPr>
          <a:xfrm>
            <a:off x="699516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(28.57%)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75120" y="2999232"/>
            <a:ext cx="201168" cy="201168"/>
          </a:xfrm>
          <a:prstGeom prst="ellipse">
            <a:avLst/>
          </a:prstGeom>
          <a:solidFill>
            <a:srgbClr val="778DA9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7824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(9.24%)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75120" y="3566160"/>
            <a:ext cx="4892040" cy="2468880"/>
          </a:xfrm>
          <a:prstGeom prst="roundRect">
            <a:avLst>
              <a:gd name="adj" fmla="val 2222"/>
            </a:avLst>
          </a:prstGeom>
          <a:solidFill>
            <a:srgbClr val="FDECE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03720" y="3749040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2 in 3 recorded accidents were classified as High severity — far outweighing Moderate (28.6%) and Low (9.2%) outcomes. This points to conditions in this dataset (higher speeds, vehicle mix) that intensify crash outcomes rather than just their frequency.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CAUSES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Categorizing the Contributing Factors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286000"/>
            <a:ext cx="777240" cy="77724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6" name="Image 0" descr="icons/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122" y="24880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Factors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age group, alcohol involvement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2286000"/>
            <a:ext cx="777240" cy="77724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11" name="Image 1" descr="icons/c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62" y="24880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337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Factors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931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mix across incidents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0" y="2286000"/>
            <a:ext cx="777240" cy="77724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16" name="Image 2" descr="icons/r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402" y="2488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337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&amp; Environment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3931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type, surface condition, lighting, traffic density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9202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66960" y="2286000"/>
            <a:ext cx="777240" cy="77724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21" name="Image 3" descr="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042" y="2488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337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35440" y="3931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at the time of the accident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slides examine each category using the recorded data — no category is assumed; each is grounded in a tracked variable.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Alcohol Use &amp; Age Group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Driver Alcohol Involvement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Driver Age Group (approx.)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26480" y="196596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DECE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13.45% of accidents involved driver alcohol use — but adult and older drivers together account for the large majority of incidents, well ahead of younger drivers.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VEHICLE-RELATED FACTORS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Accidents by Vehicle Type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82880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0" y="1993392"/>
            <a:ext cx="548640" cy="54864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7" name="Image 0" descr="icons/carsimp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46" y="2136038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952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589520" y="2267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 (65.55%)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675120" y="283464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0" y="2999232"/>
            <a:ext cx="548640" cy="54864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2" name="Image 1" descr="icons/tru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46" y="3141878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952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589520" y="3273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(18.49%)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675120" y="384048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858000" y="4005072"/>
            <a:ext cx="548640" cy="54864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7" name="Image 2" descr="icons/motorcy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646" y="4147718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589520" y="4279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(12.61%)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675120" y="484632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858000" y="5010912"/>
            <a:ext cx="548640" cy="54864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22" name="Image 3" descr="icons/bu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46" y="5153558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589520" y="52852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(3.36%)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dominate the sample — largely reflecting their share of overall traffic, not necessarily higher per-vehicle risk.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ENVIRONMENTAL CAUSES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Lighting &amp; Road Type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Road Lighting Condition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Road Type (ranked)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Road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01000" y="2130552"/>
            <a:ext cx="4480560" cy="292608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26700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01000" y="2697480"/>
            <a:ext cx="3566160" cy="292608"/>
          </a:xfrm>
          <a:prstGeom prst="roundRect">
            <a:avLst>
              <a:gd name="adj" fmla="val 12500"/>
            </a:avLst>
          </a:prstGeom>
          <a:solidFill>
            <a:srgbClr val="415A77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32369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Road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01000" y="3264408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415A77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8039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Road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01000" y="3831336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415A77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450799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highest to lowest number of accidents (exact counts not legible in source dashboard).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DECE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555955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accidents (47%) occurred under artificial or no lighting — a strong signal that road lighting infrastructure deserves priority investment.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ENVIRONMENTAL CAUSES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Conditions &amp; Traffic Density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Weather (approx.)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Traffic Density Level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26480" y="196596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DECE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accidents happened in clear weather — mainly because most driving happens in clear weather, not because clear conditions are riskier. Accidents occurred fairly evenly across all traffic-density levels.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ENVIRONMENTAL CAUSES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at the Time of the Accident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4206240"/>
          </a:xfrm>
          <a:prstGeom prst="roundRect">
            <a:avLst>
              <a:gd name="adj" fmla="val 1667"/>
            </a:avLst>
          </a:prstGeom>
          <a:solidFill>
            <a:srgbClr val="1B263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685800" cy="68580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6" name="Image 0" descr="icons/tach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70.52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spc="100" kern="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RECORDED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spc="100" kern="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ACROSS ALL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spc="100" kern="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05840" y="4800600"/>
            <a:ext cx="2377440" cy="0"/>
          </a:xfrm>
          <a:prstGeom prst="line">
            <a:avLst/>
          </a:prstGeom>
          <a:noFill/>
          <a:ln w="12700">
            <a:solidFill>
              <a:srgbClr val="415A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83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recorded speeds ranged widely — from roughly 120 up to over 210 — with no single value dominating.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60520" y="1737360"/>
          <a:ext cx="7498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values as recorded in the source dashboard; unit not specified in the original data.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Critical Causes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2A3B54"/>
          </a:solidFill>
          <a:ln/>
        </p:spPr>
      </p:sp>
      <p:pic>
        <p:nvPicPr>
          <p:cNvPr id="6" name="Image 0" descr="icons/warnin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accidents were High severity — the dominant outcome, not the exception.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2148840"/>
            <a:ext cx="640080" cy="640080"/>
          </a:xfrm>
          <a:prstGeom prst="ellipse">
            <a:avLst/>
          </a:prstGeom>
          <a:solidFill>
            <a:srgbClr val="2A3B54"/>
          </a:solidFill>
          <a:ln/>
        </p:spPr>
      </p:sp>
      <p:pic>
        <p:nvPicPr>
          <p:cNvPr id="11" name="Image 1" descr="icons/bulb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681" y="23152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566160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occurred under artificial or no road lighting — nearly half of all incidents.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8745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148840"/>
            <a:ext cx="640080" cy="640080"/>
          </a:xfrm>
          <a:prstGeom prst="ellipse">
            <a:avLst/>
          </a:prstGeom>
          <a:solidFill>
            <a:srgbClr val="2A3B54"/>
          </a:solidFill>
          <a:ln/>
        </p:spPr>
      </p:sp>
      <p:pic>
        <p:nvPicPr>
          <p:cNvPr id="16" name="Image 2" descr="icons/tacho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21" y="23152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70.52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400800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recorded speed across accidents, with many cases far above typical urban limits.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87452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0D152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2148840"/>
            <a:ext cx="640080" cy="640080"/>
          </a:xfrm>
          <a:prstGeom prst="ellipse">
            <a:avLst/>
          </a:prstGeom>
          <a:solidFill>
            <a:srgbClr val="2A3B54"/>
          </a:solidFill>
          <a:ln/>
        </p:spPr>
      </p:sp>
      <p:pic>
        <p:nvPicPr>
          <p:cNvPr id="21" name="Image 3" descr="icons/glas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61" y="23152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13.5%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9235440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involved driver alcohol use — a smaller, but still significant and preventable share.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&amp;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Findings Into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822960" cy="822960"/>
          </a:xfrm>
          <a:prstGeom prst="ellipse">
            <a:avLst/>
          </a:prstGeom>
          <a:solidFill>
            <a:srgbClr val="FDECEE"/>
          </a:solidFill>
          <a:ln/>
        </p:spPr>
      </p:sp>
      <p:pic>
        <p:nvPicPr>
          <p:cNvPr id="6" name="Image 0" descr="icons/bulb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28965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4767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Prioritize Road Lighting Upgrades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0" y="233172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47% of accidents occurring in artificial or no-light conditions, invest in artificial lighting and reflective signage on high-incident stretches, especially city roads and highways.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675888"/>
            <a:ext cx="822960" cy="822960"/>
          </a:xfrm>
          <a:prstGeom prst="ellipse">
            <a:avLst/>
          </a:prstGeom>
          <a:solidFill>
            <a:srgbClr val="FDECEE"/>
          </a:solidFill>
          <a:ln/>
        </p:spPr>
      </p:sp>
      <p:pic>
        <p:nvPicPr>
          <p:cNvPr id="11" name="Image 1" descr="icons/tacho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388985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4787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Strengthen Speed Enforcement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828800" y="393192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recorded speed of 70.52 and a wide high-speed tail suggest speed is a major severity driver. Expand speed cameras and targeted enforcement on the routes most represented in this data.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5276088"/>
            <a:ext cx="822960" cy="822960"/>
          </a:xfrm>
          <a:prstGeom prst="ellipse">
            <a:avLst/>
          </a:prstGeom>
          <a:solidFill>
            <a:srgbClr val="FDECEE"/>
          </a:solidFill>
          <a:ln/>
        </p:spPr>
      </p:sp>
      <p:pic>
        <p:nvPicPr>
          <p:cNvPr id="16" name="Image 2" descr="icons/glass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549005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514807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Targeted Alcohol &amp; Driver-Age Campaigns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828800" y="553212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was involved in 13.5% of cases, and adult/older drivers make up the largest share of incidents. Pair sobriety checkpoints with refresher safety education for experienced drivers.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D15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Points the Way to Safer Roads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119 recorded accidents, three patterns stand out: severity skews high, lighting conditions matter more than expected, and speed remains a consistent thread through the most serious incidents. None of these are unsolvable — each maps to a concrete, actionable response.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2528316" cy="502920"/>
          </a:xfrm>
          <a:prstGeom prst="roundRect">
            <a:avLst>
              <a:gd name="adj" fmla="val 50909"/>
            </a:avLst>
          </a:prstGeom>
          <a:solidFill>
            <a:srgbClr val="0D1521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03320"/>
            <a:ext cx="25283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Infrastructure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05556" y="3703320"/>
            <a:ext cx="1952244" cy="502920"/>
          </a:xfrm>
          <a:prstGeom prst="roundRect">
            <a:avLst>
              <a:gd name="adj" fmla="val 50909"/>
            </a:avLst>
          </a:prstGeom>
          <a:solidFill>
            <a:srgbClr val="0D1521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5556" y="3703320"/>
            <a:ext cx="1952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Enforcement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3703320"/>
            <a:ext cx="1856232" cy="502920"/>
          </a:xfrm>
          <a:prstGeom prst="roundRect">
            <a:avLst>
              <a:gd name="adj" fmla="val 50909"/>
            </a:avLst>
          </a:prstGeom>
          <a:solidFill>
            <a:srgbClr val="0D1521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370332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Education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383280" cy="3657600"/>
          </a:xfrm>
          <a:prstGeom prst="roundRect">
            <a:avLst>
              <a:gd name="adj" fmla="val 1622"/>
            </a:avLst>
          </a:prstGeom>
          <a:solidFill>
            <a:srgbClr val="0D152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0" y="2103120"/>
            <a:ext cx="685800" cy="685800"/>
          </a:xfrm>
          <a:prstGeom prst="ellipse">
            <a:avLst/>
          </a:prstGeom>
          <a:solidFill>
            <a:srgbClr val="2A3B54"/>
          </a:solidFill>
          <a:ln/>
        </p:spPr>
      </p:sp>
      <p:pic>
        <p:nvPicPr>
          <p:cNvPr id="14" name="Image 0" descr="icons/shield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68" y="228142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458200" y="297180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Safer roads start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understanding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accident.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Accidents: Causes, Analysis, and Prevention Strategies</dc:title>
  <dc:subject>PptxGenJS Presentation</dc:subject>
  <dc:creator>Traffic and Accidents</dc:creator>
  <cp:lastModifiedBy>Traffic and Accidents</cp:lastModifiedBy>
  <cp:revision>1</cp:revision>
  <dcterms:created xsi:type="dcterms:W3CDTF">2026-07-08T07:01:05Z</dcterms:created>
  <dcterms:modified xsi:type="dcterms:W3CDTF">2026-07-08T07:01:05Z</dcterms:modified>
</cp:coreProperties>
</file>